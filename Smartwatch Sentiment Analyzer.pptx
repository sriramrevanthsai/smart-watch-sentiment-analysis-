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Orbitron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rbitron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rbitron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10.png"/><Relationship Id="rId6" Type="http://schemas.openxmlformats.org/officeDocument/2006/relationships/image" Target="../media/image17.png"/><Relationship Id="rId7" Type="http://schemas.openxmlformats.org/officeDocument/2006/relationships/image" Target="../media/image28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9" Type="http://schemas.openxmlformats.org/officeDocument/2006/relationships/image" Target="../media/image19.png"/><Relationship Id="rId5" Type="http://schemas.openxmlformats.org/officeDocument/2006/relationships/image" Target="../media/image27.png"/><Relationship Id="rId6" Type="http://schemas.openxmlformats.org/officeDocument/2006/relationships/image" Target="../media/image20.png"/><Relationship Id="rId7" Type="http://schemas.openxmlformats.org/officeDocument/2006/relationships/image" Target="../media/image32.png"/><Relationship Id="rId8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9.png"/><Relationship Id="rId7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24.png"/><Relationship Id="rId6" Type="http://schemas.openxmlformats.org/officeDocument/2006/relationships/image" Target="../media/image16.png"/><Relationship Id="rId7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15.png"/><Relationship Id="rId6" Type="http://schemas.openxmlformats.org/officeDocument/2006/relationships/image" Target="../media/image26.png"/><Relationship Id="rId7" Type="http://schemas.openxmlformats.org/officeDocument/2006/relationships/image" Target="../media/image33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09860"/>
            <a:ext cx="7620000" cy="6238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2050" y="5218658"/>
            <a:ext cx="6457950" cy="59620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000601" y="890885"/>
            <a:ext cx="6780847" cy="2925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SMARTWATCH SENTIMENT ANALYZER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162050" y="3911947"/>
            <a:ext cx="64579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F3FF"/>
                </a:solidFill>
                <a:latin typeface="Inter"/>
                <a:ea typeface="Inter"/>
                <a:cs typeface="Inter"/>
                <a:sym typeface="Inter"/>
              </a:rPr>
              <a:t>Uncovering Customer Sentiments for ABC X1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162050" y="4563367"/>
            <a:ext cx="6457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Mini Project Using Streamlit &amp; TextBlob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162050" y="5571083"/>
            <a:ext cx="64579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SRM University –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1985"/>
            <a:ext cx="5276850" cy="4674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1985"/>
            <a:ext cx="5276850" cy="4674989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PROJECT TEAM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1992510"/>
            <a:ext cx="472059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GROUP MEMBERS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971550" y="2453431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724650" y="1992510"/>
            <a:ext cx="472059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480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GUIDED BY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6724650" y="2453431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843675" y="5671317"/>
            <a:ext cx="4495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SRM University</a:t>
            </a:r>
            <a:endParaRPr/>
          </a:p>
        </p:txBody>
      </p:sp>
      <p:pic>
        <p:nvPicPr>
          <p:cNvPr descr="image.png" id="105" name="Google Shape;10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059185"/>
            <a:ext cx="304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1209675" y="2824906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Sriram Revanth Sai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1209675" y="3213496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B. Rohith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09675" y="3602087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Madhan Reddy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09675" y="3990677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Chaitanya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09675" y="4379267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G. Nitesh Kumar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59185"/>
            <a:ext cx="3048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962775" y="2824906"/>
            <a:ext cx="4257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Shiva sir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962775" y="3213496"/>
            <a:ext cx="4257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Aravind sir 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962775" y="3602087"/>
            <a:ext cx="4257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Surya sir</a:t>
            </a:r>
            <a:endParaRPr/>
          </a:p>
        </p:txBody>
      </p:sp>
      <p:pic>
        <p:nvPicPr>
          <p:cNvPr descr="image.png" id="115" name="Google Shape;11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5711279"/>
            <a:ext cx="133350" cy="133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2824906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3213496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3602087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3990677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71550" y="4379267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2824906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3213496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24650" y="3602087"/>
            <a:ext cx="104775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771525" y="581025"/>
            <a:ext cx="4990623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PROBLEM &amp; OBJECTIVES</a:t>
            </a: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581025" y="581025"/>
            <a:ext cx="47625" cy="1279921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662987" y="9525"/>
            <a:ext cx="952500" cy="77183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 txBox="1"/>
          <p:nvPr/>
        </p:nvSpPr>
        <p:spPr>
          <a:xfrm>
            <a:off x="581025" y="2241946"/>
            <a:ext cx="519064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THE CHALLENGE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581025" y="2921942"/>
            <a:ext cx="4943475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Companies receive thousands of product reviews online. Manually reading and analyzing customer feedback for the ABC X1 Smartwatch is time-consuming and prone to human error.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581025" y="4476303"/>
            <a:ext cx="5190648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BC13FE"/>
                </a:solidFill>
                <a:latin typeface="Orbitron"/>
                <a:ea typeface="Orbitron"/>
                <a:cs typeface="Orbitron"/>
                <a:sym typeface="Orbitron"/>
              </a:rPr>
              <a:t>OUR OBJECTIVES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19150" y="5156299"/>
            <a:ext cx="4705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Automate sentiment classification (Positive, Negative, Neutral).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819150" y="5819179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user-friendly Streamlit tool.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819150" y="6207769"/>
            <a:ext cx="4705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 instant insights for quality improvement.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819150" y="6596360"/>
            <a:ext cx="4705350" cy="2616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Demonstrate NLP in real-world applications.</a:t>
            </a:r>
            <a:endParaRPr/>
          </a:p>
        </p:txBody>
      </p:sp>
      <p:pic>
        <p:nvPicPr>
          <p:cNvPr descr="image.png" id="140" name="Google Shape;14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156299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5819179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207769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6596360"/>
            <a:ext cx="104775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8" name="Google Shape;14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SOLUTION WORKFLOW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581025" y="3920430"/>
            <a:ext cx="110299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525876" y="4187130"/>
            <a:ext cx="2316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1. USER INPUT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581025" y="4625280"/>
            <a:ext cx="220593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Customer review entered via Streamlit UI.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3522316" y="2998609"/>
            <a:ext cx="2316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C13FE"/>
                </a:solidFill>
                <a:latin typeface="Orbitron"/>
                <a:ea typeface="Orbitron"/>
                <a:cs typeface="Orbitron"/>
                <a:sym typeface="Orbitron"/>
              </a:rPr>
              <a:t>2. PREPROCESSING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3522315" y="3345209"/>
            <a:ext cx="220593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 cleaning &amp; tokenization.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6408457" y="4187130"/>
            <a:ext cx="2316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3. ANALYSIS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6463605" y="4625280"/>
            <a:ext cx="220593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TextBlob calculates Polarity &amp; Subjectivity.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349747" y="2693789"/>
            <a:ext cx="2316226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C13FE"/>
                </a:solidFill>
                <a:latin typeface="Orbitron"/>
                <a:ea typeface="Orbitron"/>
                <a:cs typeface="Orbitron"/>
                <a:sym typeface="Orbitron"/>
              </a:rPr>
              <a:t>4. OUTPUT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404895" y="3131939"/>
            <a:ext cx="2205930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Sentiment Label &amp; Score displayed instantly.</a:t>
            </a:r>
            <a:endParaRPr/>
          </a:p>
        </p:txBody>
      </p:sp>
      <p:sp>
        <p:nvSpPr>
          <p:cNvPr id="160" name="Google Shape;160;p16"/>
          <p:cNvSpPr/>
          <p:nvPr/>
        </p:nvSpPr>
        <p:spPr>
          <a:xfrm>
            <a:off x="1588728" y="36548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0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4663205" y="40543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0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7471320" y="365483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0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10625660" y="405435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00F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2605"/>
            <a:ext cx="52768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4302174"/>
            <a:ext cx="5276850" cy="136773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7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DATASET &amp; METHODOLOGY</a:t>
            </a:r>
            <a:endParaRPr/>
          </a:p>
        </p:txBody>
      </p:sp>
      <p:sp>
        <p:nvSpPr>
          <p:cNvPr id="172" name="Google Shape;172;p17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81025" y="2018407"/>
            <a:ext cx="5540692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DATASET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81025" y="2510730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 external dataset required. Real-time user input is processed dynamically via the application interface.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581025" y="3345060"/>
            <a:ext cx="5540692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METHODOLOGY (RULE-BASED)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581025" y="3837384"/>
            <a:ext cx="5276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TextBlob computes a polarity score between -1.0 and 1.0.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09625" y="4492674"/>
            <a:ext cx="48577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Courier New"/>
                <a:ea typeface="Courier New"/>
                <a:cs typeface="Courier New"/>
                <a:sym typeface="Courier New"/>
              </a:rPr>
              <a:t>// Classification Logic</a:t>
            </a:r>
            <a:endParaRPr/>
          </a:p>
        </p:txBody>
      </p:sp>
      <p:pic>
        <p:nvPicPr>
          <p:cNvPr descr="image.png" id="178" name="Google Shape;17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831705"/>
            <a:ext cx="48577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5079355"/>
            <a:ext cx="48577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5327005"/>
            <a:ext cx="485775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5" name="Google Shape;1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695575"/>
            <a:ext cx="3486150" cy="2487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695575"/>
            <a:ext cx="3486150" cy="24878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695575"/>
            <a:ext cx="3486150" cy="248781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TECHNOLOGIES STACK</a:t>
            </a: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803910" y="379095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PYTHON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876300" y="4248150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Core programming language used for logic and NLP processing.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4575810" y="379095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STREAMLIT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4648200" y="4248150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Framework for creating the interactive web-based user interface.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8347710" y="3790950"/>
            <a:ext cx="304038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TEXTBLOB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8420100" y="4248150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NLP library used for calculating sentiment polarity and subjectivity.</a:t>
            </a:r>
            <a:endParaRPr/>
          </a:p>
        </p:txBody>
      </p:sp>
      <p:pic>
        <p:nvPicPr>
          <p:cNvPr descr="image.png" id="197" name="Google Shape;197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7412" y="30956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57875" y="30956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30956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72605"/>
            <a:ext cx="52768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347019"/>
            <a:ext cx="5276850" cy="168771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771525" y="94654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RESULTS &amp; FINDINGS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81025" y="94654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581025" y="1115615"/>
            <a:ext cx="5540692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PERFORMANCE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81025" y="1607939"/>
            <a:ext cx="52768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tool accurately identifies sentiment in short smartwatch reviews, providing instant numerical feedback.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81025" y="4225230"/>
            <a:ext cx="5540692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79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KEY FINDINGS</a:t>
            </a:r>
            <a:endParaRPr/>
          </a:p>
        </p:txBody>
      </p:sp>
      <p:pic>
        <p:nvPicPr>
          <p:cNvPr descr="image.png" id="212" name="Google Shape;212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282130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800100" y="2537519"/>
            <a:ext cx="5110638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EXAMPLE OUTPUT: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800100" y="2952750"/>
            <a:ext cx="4867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"This is a very nice watch"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800100" y="3398490"/>
            <a:ext cx="48672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➔ Positive Sentiment (Polarity: 0.8)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819150" y="4717553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TextBlob performs exceptionally well on direct, short feedback.</a:t>
            </a:r>
            <a:endParaRPr/>
          </a:p>
        </p:txBody>
      </p:sp>
      <p:sp>
        <p:nvSpPr>
          <p:cNvPr id="217" name="Google Shape;217;p19"/>
          <p:cNvSpPr txBox="1"/>
          <p:nvPr/>
        </p:nvSpPr>
        <p:spPr>
          <a:xfrm>
            <a:off x="819150" y="5380434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analysis allows immediate customer satisfaction tracking.</a:t>
            </a:r>
            <a:endParaRPr/>
          </a:p>
        </p:txBody>
      </p:sp>
      <p:sp>
        <p:nvSpPr>
          <p:cNvPr id="218" name="Google Shape;218;p19"/>
          <p:cNvSpPr txBox="1"/>
          <p:nvPr/>
        </p:nvSpPr>
        <p:spPr>
          <a:xfrm>
            <a:off x="819150" y="6043314"/>
            <a:ext cx="50387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Mixed-opinion reviews show moderate polarity scores (e.g., +0.3).</a:t>
            </a:r>
            <a:endParaRPr/>
          </a:p>
        </p:txBody>
      </p:sp>
      <p:pic>
        <p:nvPicPr>
          <p:cNvPr descr="image.png" id="219" name="Google Shape;219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717553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5380434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6043314"/>
            <a:ext cx="104775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601985"/>
            <a:ext cx="5276850" cy="4674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601985"/>
            <a:ext cx="5276850" cy="467498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CONCLUSION &amp; FUTURE SCOPE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971550" y="1992510"/>
            <a:ext cx="472059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CONCLUSION</a:t>
            </a:r>
            <a:endParaRPr/>
          </a:p>
        </p:txBody>
      </p:sp>
      <p:sp>
        <p:nvSpPr>
          <p:cNvPr id="232" name="Google Shape;232;p20"/>
          <p:cNvSpPr/>
          <p:nvPr/>
        </p:nvSpPr>
        <p:spPr>
          <a:xfrm>
            <a:off x="971550" y="2453431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971550" y="2824906"/>
            <a:ext cx="44958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successfully developed a simple, interactive Smartwatch Sentiment Analyzer.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724650" y="1992510"/>
            <a:ext cx="4720590" cy="375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4765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3FF"/>
                </a:solidFill>
                <a:latin typeface="Orbitron"/>
                <a:ea typeface="Orbitron"/>
                <a:cs typeface="Orbitron"/>
                <a:sym typeface="Orbitron"/>
              </a:rPr>
              <a:t>FUTURE SCOPE</a:t>
            </a:r>
            <a:endParaRPr/>
          </a:p>
        </p:txBody>
      </p:sp>
      <p:sp>
        <p:nvSpPr>
          <p:cNvPr id="235" name="Google Shape;235;p20"/>
          <p:cNvSpPr/>
          <p:nvPr/>
        </p:nvSpPr>
        <p:spPr>
          <a:xfrm>
            <a:off x="6724650" y="2453431"/>
            <a:ext cx="44958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6724650" y="2824906"/>
            <a:ext cx="44958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enhance the system, we plan to implement:</a:t>
            </a:r>
            <a:endParaRPr/>
          </a:p>
        </p:txBody>
      </p:sp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2059185"/>
            <a:ext cx="2476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209675" y="368781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Provides fast and reliable classification.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209675" y="4076402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Helps ABC Company understand customer opinions effectively.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209675" y="473928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Demonstrates the power of Python in NLP.</a:t>
            </a:r>
            <a:endParaRPr/>
          </a:p>
        </p:txBody>
      </p:sp>
      <p:pic>
        <p:nvPicPr>
          <p:cNvPr descr="image.png" id="241" name="Google Shape;24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2059185"/>
            <a:ext cx="2476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 txBox="1"/>
          <p:nvPr/>
        </p:nvSpPr>
        <p:spPr>
          <a:xfrm>
            <a:off x="6962775" y="3413521"/>
            <a:ext cx="425767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Integration with live e-commerce APIs (Amazon/Flipkart).</a:t>
            </a:r>
            <a:endParaRPr/>
          </a:p>
        </p:txBody>
      </p:sp>
      <p:sp>
        <p:nvSpPr>
          <p:cNvPr id="243" name="Google Shape;243;p20"/>
          <p:cNvSpPr txBox="1"/>
          <p:nvPr/>
        </p:nvSpPr>
        <p:spPr>
          <a:xfrm>
            <a:off x="6962775" y="407640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Advanced Transformer models like BERT or VADER.</a:t>
            </a:r>
            <a:endParaRPr/>
          </a:p>
        </p:txBody>
      </p:sp>
      <p:sp>
        <p:nvSpPr>
          <p:cNvPr id="244" name="Google Shape;244;p20"/>
          <p:cNvSpPr txBox="1"/>
          <p:nvPr/>
        </p:nvSpPr>
        <p:spPr>
          <a:xfrm>
            <a:off x="6962775" y="446499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Multilingual support for global reviews.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6962775" y="4853582"/>
            <a:ext cx="4257675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Mobile app version for on-the-go analysis.</a:t>
            </a:r>
            <a:endParaRPr/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3687812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076402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4739282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3413521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076402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464992"/>
            <a:ext cx="104775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24650" y="4853582"/>
            <a:ext cx="104775" cy="274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1"/>
          <p:cNvSpPr txBox="1"/>
          <p:nvPr/>
        </p:nvSpPr>
        <p:spPr>
          <a:xfrm>
            <a:off x="771525" y="581025"/>
            <a:ext cx="11381422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259" name="Google Shape;259;p21"/>
          <p:cNvSpPr/>
          <p:nvPr/>
        </p:nvSpPr>
        <p:spPr>
          <a:xfrm>
            <a:off x="581025" y="581025"/>
            <a:ext cx="47625" cy="639960"/>
          </a:xfrm>
          <a:prstGeom prst="rect">
            <a:avLst/>
          </a:prstGeom>
          <a:solidFill>
            <a:srgbClr val="BC13F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1"/>
          <p:cNvSpPr/>
          <p:nvPr/>
        </p:nvSpPr>
        <p:spPr>
          <a:xfrm>
            <a:off x="581025" y="2374701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1"/>
          <p:cNvSpPr/>
          <p:nvPr/>
        </p:nvSpPr>
        <p:spPr>
          <a:xfrm>
            <a:off x="581025" y="315947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1"/>
          <p:cNvSpPr/>
          <p:nvPr/>
        </p:nvSpPr>
        <p:spPr>
          <a:xfrm>
            <a:off x="581025" y="3944242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3" name="Google Shape;26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4701"/>
            <a:ext cx="133498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1"/>
          <p:cNvSpPr/>
          <p:nvPr/>
        </p:nvSpPr>
        <p:spPr>
          <a:xfrm>
            <a:off x="581025" y="31499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581025" y="314994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6" name="Google Shape;26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159472"/>
            <a:ext cx="133498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/>
          <p:nvPr/>
        </p:nvSpPr>
        <p:spPr>
          <a:xfrm>
            <a:off x="581025" y="393471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581025" y="3934717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3944242"/>
            <a:ext cx="133498" cy="27429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1"/>
          <p:cNvSpPr/>
          <p:nvPr/>
        </p:nvSpPr>
        <p:spPr>
          <a:xfrm>
            <a:off x="581025" y="471948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581025" y="4719488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729013"/>
            <a:ext cx="133498" cy="2742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5241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 txBox="1"/>
          <p:nvPr/>
        </p:nvSpPr>
        <p:spPr>
          <a:xfrm>
            <a:off x="1914525" y="2517576"/>
            <a:ext cx="9696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https://pikwizard.com/pw/medium/698e6ec9d1205d0194163aa88f46d85e.jpg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1914525" y="2763291"/>
            <a:ext cx="9696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pikwizard.com</a:t>
            </a:r>
            <a:endParaRPr/>
          </a:p>
        </p:txBody>
      </p:sp>
      <p:pic>
        <p:nvPicPr>
          <p:cNvPr descr="image.png" id="276" name="Google Shape;27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" y="330889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1"/>
          <p:cNvSpPr txBox="1"/>
          <p:nvPr/>
        </p:nvSpPr>
        <p:spPr>
          <a:xfrm>
            <a:off x="1914525" y="3302347"/>
            <a:ext cx="9696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https://www.red-gate.com/simple-talk/wp-content/uploads/2022/02/graphical-user-interface-text-application-descr-2.png</a:t>
            </a:r>
            <a:endParaRPr/>
          </a:p>
        </p:txBody>
      </p:sp>
      <p:sp>
        <p:nvSpPr>
          <p:cNvPr id="278" name="Google Shape;278;p21"/>
          <p:cNvSpPr txBox="1"/>
          <p:nvPr/>
        </p:nvSpPr>
        <p:spPr>
          <a:xfrm>
            <a:off x="1914525" y="3548062"/>
            <a:ext cx="9696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www.red-gate.com</a:t>
            </a:r>
            <a:endParaRPr/>
          </a:p>
        </p:txBody>
      </p:sp>
      <p:pic>
        <p:nvPicPr>
          <p:cNvPr descr="image.png" id="279" name="Google Shape;27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409366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/>
        </p:nvSpPr>
        <p:spPr>
          <a:xfrm>
            <a:off x="1914525" y="4087117"/>
            <a:ext cx="9696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https://miro.medium.com/1*jHzNpL-KagnaHUSHzPTPkA.jpeg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1914525" y="4332833"/>
            <a:ext cx="9696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medium.com</a:t>
            </a:r>
            <a:endParaRPr/>
          </a:p>
        </p:txBody>
      </p:sp>
      <p:pic>
        <p:nvPicPr>
          <p:cNvPr descr="image.png" id="282" name="Google Shape;28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4878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/>
        </p:nvSpPr>
        <p:spPr>
          <a:xfrm>
            <a:off x="1914525" y="4871888"/>
            <a:ext cx="9696450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https://img.freepik.com/premium-photo/futuristic-smartwatch-sleek-interface-glowing-screen-dark-background_1342292-8186.jpg</a:t>
            </a:r>
            <a:endParaRPr/>
          </a:p>
        </p:txBody>
      </p:sp>
      <p:sp>
        <p:nvSpPr>
          <p:cNvPr id="284" name="Google Shape;284;p21"/>
          <p:cNvSpPr txBox="1"/>
          <p:nvPr/>
        </p:nvSpPr>
        <p:spPr>
          <a:xfrm>
            <a:off x="1914525" y="5117603"/>
            <a:ext cx="969645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